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458" r:id="rId3"/>
    <p:sldId id="459" r:id="rId4"/>
    <p:sldId id="460" r:id="rId5"/>
    <p:sldId id="481" r:id="rId6"/>
    <p:sldId id="473" r:id="rId7"/>
    <p:sldId id="480" r:id="rId8"/>
    <p:sldId id="468" r:id="rId9"/>
    <p:sldId id="479" r:id="rId10"/>
    <p:sldId id="472" r:id="rId11"/>
    <p:sldId id="469" r:id="rId12"/>
    <p:sldId id="470" r:id="rId13"/>
    <p:sldId id="476" r:id="rId14"/>
    <p:sldId id="475" r:id="rId15"/>
    <p:sldId id="280" r:id="rId16"/>
  </p:sldIdLst>
  <p:sldSz cx="9144000" cy="5143500" type="screen16x9"/>
  <p:notesSz cx="6858000" cy="9144000"/>
  <p:defaultTextStyle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26" autoAdjust="0"/>
    <p:restoredTop sz="99813" autoAdjust="0"/>
  </p:normalViewPr>
  <p:slideViewPr>
    <p:cSldViewPr>
      <p:cViewPr>
        <p:scale>
          <a:sx n="100" d="100"/>
          <a:sy n="100" d="100"/>
        </p:scale>
        <p:origin x="730" y="37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2940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3F6BFD-2A88-4356-9C9F-D7125875972F}" type="datetimeFigureOut">
              <a:rPr lang="en-IN" smtClean="0"/>
              <a:pPr/>
              <a:t>14-07-2017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9A0CC5-4AB5-42F4-987D-0512B437DDB5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8852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  <a:extLst/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  <a:extLst/>
          </a:lstStyle>
          <a:p>
            <a:fld id="{A8ADFD5B-A66C-449C-B6E8-FB716D07777D}" type="datetimeFigureOut">
              <a:rPr lang="en-US" smtClean="0"/>
              <a:pPr/>
              <a:t>7/14/2017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>
            <a:extLst/>
          </a:lstStyle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>
            <a:extLst/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  <a:extLst/>
          </a:lstStyle>
          <a:p>
            <a:fld id="{CA5D3BF3-D352-46FC-8343-31F56E6730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037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CA5D3BF3-D352-46FC-8343-31F56E6730EA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577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28EC0C-5FB2-174B-AFF5-C06309A44A0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71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/>
          <a:lstStyle>
            <a:lvl1pPr marL="0" indent="0" algn="l">
              <a:buNone/>
              <a:defRPr sz="28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047E157E-8DCB-4F70-A0AF-5EB586A91DD4}" type="datetime1">
              <a:rPr lang="en-US" smtClean="0">
                <a:solidFill>
                  <a:srgbClr val="FFFFFF"/>
                </a:solidFill>
              </a:rPr>
              <a:pPr algn="ctr"/>
              <a:t>7/14/2017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177404"/>
            <a:ext cx="5867400" cy="273844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  <a:extLst/>
          </a:lstStyle>
          <a:p>
            <a:pPr algn="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/>
          <a:lstStyle>
            <a:lvl1pPr>
              <a:defRPr cap="all" baseline="0"/>
            </a:lvl1pPr>
            <a:extLst/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0" y="4727377"/>
            <a:ext cx="5696175" cy="365125"/>
          </a:xfrm>
          <a:prstGeom prst="rect">
            <a:avLst/>
          </a:prstGeom>
        </p:spPr>
        <p:txBody>
          <a:bodyPr vert="horz" anchor="ctr"/>
          <a:lstStyle>
            <a:lvl1pPr marL="0" algn="r" rtl="0" latinLnBrk="0"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l"/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  <a:extLst/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/>
          <a:lstStyle>
            <a:extLst/>
          </a:lstStyle>
          <a:p>
            <a:fld id="{6FCF9F07-3BC7-4570-B054-79111B0A380C}" type="datetime1">
              <a:rPr lang="en-US" smtClean="0"/>
              <a:pPr/>
              <a:t>7/14/2017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2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/>
          <a:lstStyle>
            <a:extLst/>
          </a:lstStyle>
          <a:p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rtlCol="0"/>
          <a:lstStyle>
            <a:extLst/>
          </a:lstStyle>
          <a:p>
            <a:fld id="{E4606EA6-EFEA-4C30-9264-4F9291A5780D}" type="datetime1">
              <a:rPr lang="en-US" smtClean="0"/>
              <a:pPr/>
              <a:t>7/14/2017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extLst/>
          </a:lstStyle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rtlCol="0"/>
          <a:lstStyle>
            <a:extLst/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rtlCol="0"/>
          <a:lstStyle>
            <a:extLst/>
          </a:lstStyle>
          <a:p>
            <a:fld id="{E4606EA6-EFEA-4C30-9264-4F9291A5780D}" type="datetime1">
              <a:rPr lang="en-US" smtClean="0"/>
              <a:pPr/>
              <a:t>7/14/2017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extLst/>
          </a:lstStyle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rtlCol="0"/>
          <a:lstStyle>
            <a:extLst/>
          </a:lstStyle>
          <a:p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/>
          <a:lstStyle>
            <a:lvl1pPr>
              <a:buFontTx/>
              <a:buNone/>
              <a:defRPr sz="2000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/>
          <a:lstStyle>
            <a:lvl1pPr>
              <a:buFontTx/>
              <a:buNone/>
              <a:defRPr sz="2000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/>
          <a:lstStyle>
            <a:extLst/>
          </a:lstStyle>
          <a:p>
            <a:fld id="{6DFADB5D-B7A0-47E3-AD2D-B1A6F8614213}" type="datetime1">
              <a:rPr lang="en-US" smtClean="0"/>
              <a:pPr/>
              <a:t>7/14/2017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/>
          <a:lstStyle>
            <a:extLst/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/>
          <a:lstStyle>
            <a:extLst/>
          </a:lstStyle>
          <a:p>
            <a:fld id="{72968126-03FC-49C0-B9B8-2B561CCC3D90}" type="datetime1">
              <a:rPr lang="en-US" smtClean="0"/>
              <a:pPr/>
              <a:t>7/14/2017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>
              <a:buNone/>
              <a:defRPr sz="4200" b="0"/>
            </a:lvl1pPr>
            <a:extLst/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/>
          <a:lstStyle>
            <a:extLst/>
          </a:lstStyle>
          <a:p>
            <a:fld id="{F49A8198-4617-485E-9585-4840B69DBBA6}" type="datetime1">
              <a:rPr lang="en-US" smtClean="0"/>
              <a:pPr/>
              <a:t>7/14/2017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>
              <a:buNone/>
              <a:defRPr sz="3200"/>
            </a:lvl1pPr>
            <a:extLst/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  <a:prstGeom prst="rect">
            <a:avLst/>
          </a:prstGeom>
        </p:spPr>
        <p:txBody>
          <a:bodyPr rtlCol="0"/>
          <a:lstStyle>
            <a:extLst/>
          </a:lstStyle>
          <a:p>
            <a:fld id="{E4606EA6-EFEA-4C30-9264-4F9291A5780D}" type="datetime1">
              <a:rPr lang="en-US" smtClean="0"/>
              <a:pPr/>
              <a:t>7/14/2017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>
              <a:defRPr sz="2800"/>
            </a:lvl1pPr>
            <a:extLst/>
          </a:lstStyle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  <a:prstGeom prst="rect">
            <a:avLst/>
          </a:prstGeom>
        </p:spPr>
        <p:txBody>
          <a:bodyPr rtlCol="0"/>
          <a:lstStyle>
            <a:extLst/>
          </a:lstStyle>
          <a:p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68580" tIns="34290" rIns="68580" bIns="3429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68580" tIns="34290" rIns="68580" bIns="3429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A79A3335-6331-4872-A8B7-ECD55539F4D0}" type="datetimeFigureOut">
              <a:rPr lang="en-US" smtClean="0"/>
              <a:pPr/>
              <a:t>7/14/2017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lIns="68580" tIns="34290" rIns="68580" bIns="34290"/>
          <a:lstStyle/>
          <a:p>
            <a:fld id="{A7F8E3F6-DE14-48B2-B2BC-6FABA9630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182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_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rgbClr val="008A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 userDrawn="1"/>
        </p:nvSpPr>
        <p:spPr>
          <a:xfrm>
            <a:off x="2" y="220070"/>
            <a:ext cx="822959" cy="413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822959" y="873312"/>
            <a:ext cx="7543800" cy="3017520"/>
          </a:xfrm>
        </p:spPr>
        <p:txBody>
          <a:bodyPr lIns="68580" tIns="34290" rIns="68580" bIns="3429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2" name="Group 21"/>
          <p:cNvGrpSpPr/>
          <p:nvPr userDrawn="1"/>
        </p:nvGrpSpPr>
        <p:grpSpPr>
          <a:xfrm>
            <a:off x="795203" y="219874"/>
            <a:ext cx="2459933" cy="412349"/>
            <a:chOff x="1064623" y="293166"/>
            <a:chExt cx="5315999" cy="549798"/>
          </a:xfrm>
          <a:solidFill>
            <a:srgbClr val="008AC4"/>
          </a:solidFill>
        </p:grpSpPr>
        <p:sp>
          <p:nvSpPr>
            <p:cNvPr id="17" name="Rectangle 16"/>
            <p:cNvSpPr/>
            <p:nvPr userDrawn="1"/>
          </p:nvSpPr>
          <p:spPr>
            <a:xfrm>
              <a:off x="1064623" y="293166"/>
              <a:ext cx="5078600" cy="5497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riangle 18"/>
            <p:cNvSpPr/>
            <p:nvPr userDrawn="1"/>
          </p:nvSpPr>
          <p:spPr>
            <a:xfrm rot="5400000">
              <a:off x="6104641" y="435764"/>
              <a:ext cx="314564" cy="23739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57343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772"/>
          <a:stretch>
            <a:fillRect/>
          </a:stretch>
        </p:blipFill>
        <p:spPr>
          <a:xfrm>
            <a:off x="8153400" y="4811712"/>
            <a:ext cx="762000" cy="19645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  <p:sldLayoutId id="2147483660" r:id="rId11"/>
  </p:sldLayoutIdLst>
  <p:txStyles>
    <p:titleStyle>
      <a:lvl1pPr algn="l" rtl="0" eaLnBrk="1" latinLnBrk="0" hangingPunct="1">
        <a:spcBef>
          <a:spcPct val="0"/>
        </a:spcBef>
        <a:buNone/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jpeg"/><Relationship Id="rId5" Type="http://schemas.openxmlformats.org/officeDocument/2006/relationships/image" Target="../media/image10.jpeg"/><Relationship Id="rId15" Type="http://schemas.openxmlformats.org/officeDocument/2006/relationships/image" Target="../media/image20.gif"/><Relationship Id="rId10" Type="http://schemas.openxmlformats.org/officeDocument/2006/relationships/image" Target="../media/image15.png"/><Relationship Id="rId4" Type="http://schemas.openxmlformats.org/officeDocument/2006/relationships/image" Target="../media/image9.jpe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jpe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jpeg"/><Relationship Id="rId10" Type="http://schemas.openxmlformats.org/officeDocument/2006/relationships/image" Target="../media/image32.png"/><Relationship Id="rId4" Type="http://schemas.openxmlformats.org/officeDocument/2006/relationships/image" Target="../media/image26.jpeg"/><Relationship Id="rId9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0.xml"/><Relationship Id="rId5" Type="http://schemas.openxmlformats.org/officeDocument/2006/relationships/hyperlink" Target="http://nipponpaint-autorefinishes.com/" TargetMode="External"/><Relationship Id="rId4" Type="http://schemas.openxmlformats.org/officeDocument/2006/relationships/image" Target="../media/image3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://www.happymiles.co.in/" TargetMode="Externa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nyclimousine.com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phoenix-infotech.com/19thMile/index.html" TargetMode="Externa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>
            <a:extLst/>
          </a:lstStyle>
          <a:p>
            <a:r>
              <a:rPr lang="en-US" sz="100" dirty="0" smtClean="0"/>
              <a:t>f</a:t>
            </a:r>
            <a:endParaRPr lang="en-US" sz="1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772"/>
          <a:stretch>
            <a:fillRect/>
          </a:stretch>
        </p:blipFill>
        <p:spPr>
          <a:xfrm>
            <a:off x="3429000" y="2114550"/>
            <a:ext cx="1752600" cy="4518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04800" y="1200150"/>
            <a:ext cx="8382000" cy="3581400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endParaRPr lang="en-US" sz="1400" b="1" u="sng" dirty="0" smtClean="0"/>
          </a:p>
          <a:p>
            <a:pPr>
              <a:buNone/>
            </a:pPr>
            <a:r>
              <a:rPr lang="en-US" sz="2200" b="1" u="sng" dirty="0" smtClean="0"/>
              <a:t>Vision</a:t>
            </a:r>
            <a:r>
              <a:rPr lang="en-US" sz="2200" b="1" u="sng" dirty="0"/>
              <a:t>:</a:t>
            </a:r>
            <a:r>
              <a:rPr lang="en-US" sz="2200" b="1" dirty="0"/>
              <a:t> </a:t>
            </a:r>
            <a:r>
              <a:rPr lang="en-US" sz="2200" b="1" dirty="0" smtClean="0"/>
              <a:t> </a:t>
            </a:r>
            <a:r>
              <a:rPr lang="en-US" sz="2600" dirty="0" smtClean="0"/>
              <a:t>“</a:t>
            </a:r>
            <a:r>
              <a:rPr lang="en-US" sz="2600" dirty="0"/>
              <a:t>Phoenix continuously strives to offer technologically advanced, cost effective solutions to assist clients in </a:t>
            </a:r>
            <a:r>
              <a:rPr lang="en-US" sz="2600" dirty="0" smtClean="0"/>
              <a:t> </a:t>
            </a:r>
            <a:r>
              <a:rPr lang="en-US" sz="2600" dirty="0"/>
              <a:t>transforming their business</a:t>
            </a:r>
            <a:r>
              <a:rPr lang="en-US" sz="1700" dirty="0"/>
              <a:t>”</a:t>
            </a:r>
          </a:p>
          <a:p>
            <a:pPr>
              <a:buNone/>
            </a:pPr>
            <a:endParaRPr lang="en-US" sz="1400" b="1" u="sng" dirty="0"/>
          </a:p>
          <a:p>
            <a:pPr>
              <a:buNone/>
            </a:pPr>
            <a:r>
              <a:rPr lang="en-US" sz="2100" b="1" u="sng" dirty="0" smtClean="0"/>
              <a:t>About </a:t>
            </a:r>
            <a:r>
              <a:rPr lang="en-US" sz="2100" b="1" u="sng" dirty="0"/>
              <a:t>Us:</a:t>
            </a:r>
          </a:p>
          <a:p>
            <a:pPr lvl="1">
              <a:buNone/>
            </a:pPr>
            <a:endParaRPr lang="en-US" sz="1300" b="1" u="sng" dirty="0"/>
          </a:p>
          <a:p>
            <a:pPr algn="just"/>
            <a:r>
              <a:rPr lang="en-US" sz="1700" dirty="0"/>
              <a:t>Phoenix Tech is focused on providing Business Consulting &amp; IT solutions across various domains and technologies</a:t>
            </a:r>
          </a:p>
          <a:p>
            <a:pPr algn="just"/>
            <a:endParaRPr lang="en-US" sz="1700" dirty="0"/>
          </a:p>
          <a:p>
            <a:pPr algn="just"/>
            <a:r>
              <a:rPr lang="en-US" sz="1700" dirty="0"/>
              <a:t>Company has build matured practices &amp; business solutions around sectors like Automobile, Paint, Oil &amp; Energy, Travel &amp; </a:t>
            </a:r>
            <a:r>
              <a:rPr lang="en-US" sz="1700" dirty="0" smtClean="0"/>
              <a:t>Luxury</a:t>
            </a:r>
            <a:endParaRPr lang="en-US" sz="1700" dirty="0"/>
          </a:p>
          <a:p>
            <a:pPr algn="just"/>
            <a:endParaRPr lang="en-US" sz="1700" dirty="0"/>
          </a:p>
          <a:p>
            <a:pPr algn="just"/>
            <a:r>
              <a:rPr lang="en-US" sz="1700" dirty="0"/>
              <a:t>Head quartered in Gurgaon, India, Phoenix has extensive clients in &amp; out of India</a:t>
            </a:r>
          </a:p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8600" y="528066"/>
            <a:ext cx="8458200" cy="443484"/>
          </a:xfrm>
        </p:spPr>
        <p:txBody>
          <a:bodyPr>
            <a:noAutofit/>
          </a:bodyPr>
          <a:lstStyle/>
          <a:p>
            <a:r>
              <a:rPr lang="en-US" sz="2800" dirty="0" smtClean="0"/>
              <a:t>Phoenix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10522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799" y="209550"/>
            <a:ext cx="5424281" cy="762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Meet the Team</a:t>
            </a:r>
            <a:endParaRPr lang="en-US" sz="28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507701" y="1627248"/>
            <a:ext cx="6797375" cy="2922839"/>
          </a:xfrm>
          <a:prstGeom prst="rect">
            <a:avLst/>
          </a:prstGeom>
        </p:spPr>
        <p:txBody>
          <a:bodyPr>
            <a:no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lvl="1">
              <a:buFont typeface="Wingdings 2"/>
              <a:buNone/>
            </a:pPr>
            <a:endParaRPr lang="en-US" sz="1100" b="1" u="sng" dirty="0" smtClean="0"/>
          </a:p>
          <a:p>
            <a:pPr lvl="1">
              <a:buFont typeface="Wingdings 2"/>
              <a:buNone/>
            </a:pPr>
            <a:endParaRPr lang="en-US" sz="1100" b="1" u="sng" dirty="0" smtClean="0"/>
          </a:p>
          <a:p>
            <a:pPr lvl="1">
              <a:buFont typeface="Wingdings 2"/>
              <a:buNone/>
            </a:pPr>
            <a:endParaRPr lang="en-US" sz="1100" b="1" u="sng" dirty="0" smtClean="0"/>
          </a:p>
          <a:p>
            <a:pPr lvl="1">
              <a:buFont typeface="Wingdings 2"/>
              <a:buNone/>
            </a:pPr>
            <a:endParaRPr lang="en-US" sz="1100" dirty="0" smtClean="0"/>
          </a:p>
          <a:p>
            <a:pPr lvl="1">
              <a:buFont typeface="Wingdings 2"/>
              <a:buNone/>
            </a:pPr>
            <a:endParaRPr lang="en-US" sz="1100" dirty="0"/>
          </a:p>
        </p:txBody>
      </p:sp>
      <p:sp>
        <p:nvSpPr>
          <p:cNvPr id="5" name="Oval 4"/>
          <p:cNvSpPr/>
          <p:nvPr/>
        </p:nvSpPr>
        <p:spPr>
          <a:xfrm>
            <a:off x="604444" y="1875106"/>
            <a:ext cx="1452956" cy="1452956"/>
          </a:xfrm>
          <a:prstGeom prst="ellipse">
            <a:avLst/>
          </a:prstGeom>
          <a:solidFill>
            <a:srgbClr val="1D33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551799" y="2285335"/>
            <a:ext cx="819801" cy="210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  Amit Kaushik</a:t>
            </a:r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5803" y="2533045"/>
            <a:ext cx="12153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</a:rPr>
              <a:t>Business Head</a:t>
            </a:r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7991" y="3409950"/>
            <a:ext cx="1405868" cy="515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 smtClean="0">
                <a:solidFill>
                  <a:schemeClr val="accent5">
                    <a:lumMod val="50000"/>
                  </a:schemeClr>
                </a:solidFill>
              </a:rPr>
              <a:t>12 </a:t>
            </a:r>
            <a:r>
              <a:rPr lang="en-US" sz="1200" dirty="0">
                <a:solidFill>
                  <a:schemeClr val="accent5">
                    <a:lumMod val="50000"/>
                  </a:schemeClr>
                </a:solidFill>
              </a:rPr>
              <a:t>years of experience in Sales and </a:t>
            </a:r>
            <a:r>
              <a:rPr lang="en-US" sz="1200" dirty="0" smtClean="0">
                <a:solidFill>
                  <a:schemeClr val="accent5">
                    <a:lumMod val="50000"/>
                  </a:schemeClr>
                </a:solidFill>
              </a:rPr>
              <a:t>Marketing</a:t>
            </a:r>
          </a:p>
          <a:p>
            <a:pPr algn="ctr"/>
            <a:r>
              <a:rPr lang="en-US" sz="1200" dirty="0" smtClean="0">
                <a:solidFill>
                  <a:schemeClr val="accent5">
                    <a:lumMod val="50000"/>
                  </a:schemeClr>
                </a:solidFill>
              </a:rPr>
              <a:t>At Maruti Suzuki</a:t>
            </a:r>
          </a:p>
          <a:p>
            <a:pPr algn="ctr"/>
            <a:r>
              <a:rPr lang="en-US" sz="1200" dirty="0" smtClean="0">
                <a:solidFill>
                  <a:schemeClr val="accent5">
                    <a:lumMod val="50000"/>
                  </a:schemeClr>
                </a:solidFill>
              </a:rPr>
              <a:t>Alumni of DCE and IMI Delhi</a:t>
            </a:r>
          </a:p>
        </p:txBody>
      </p:sp>
      <p:sp>
        <p:nvSpPr>
          <p:cNvPr id="9" name="Rectangle 8"/>
          <p:cNvSpPr/>
          <p:nvPr/>
        </p:nvSpPr>
        <p:spPr>
          <a:xfrm>
            <a:off x="2937532" y="3409950"/>
            <a:ext cx="1405868" cy="515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 smtClean="0">
                <a:solidFill>
                  <a:schemeClr val="accent5">
                    <a:lumMod val="50000"/>
                  </a:schemeClr>
                </a:solidFill>
              </a:rPr>
              <a:t>10 years of work experience in Software &amp; Mobile application development at Sapient. Alumni of IMI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4732" y="3409950"/>
            <a:ext cx="1405868" cy="401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 smtClean="0">
                <a:solidFill>
                  <a:schemeClr val="accent5">
                    <a:lumMod val="50000"/>
                  </a:schemeClr>
                </a:solidFill>
              </a:rPr>
              <a:t>13 </a:t>
            </a:r>
            <a:r>
              <a:rPr lang="en-US" sz="1200" dirty="0">
                <a:solidFill>
                  <a:schemeClr val="accent5">
                    <a:lumMod val="50000"/>
                  </a:schemeClr>
                </a:solidFill>
              </a:rPr>
              <a:t>years of work experience in </a:t>
            </a:r>
            <a:r>
              <a:rPr lang="en-US" sz="1200" dirty="0" smtClean="0">
                <a:solidFill>
                  <a:schemeClr val="accent5">
                    <a:lumMod val="50000"/>
                  </a:schemeClr>
                </a:solidFill>
              </a:rPr>
              <a:t>Software &amp; Mobile application development. Alumni of DCE</a:t>
            </a:r>
            <a:endParaRPr lang="en-GB" sz="1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147332" y="3409950"/>
            <a:ext cx="1405868" cy="515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 smtClean="0">
                <a:solidFill>
                  <a:schemeClr val="accent5">
                    <a:lumMod val="50000"/>
                  </a:schemeClr>
                </a:solidFill>
              </a:rPr>
              <a:t>10 </a:t>
            </a:r>
            <a:r>
              <a:rPr lang="en-US" sz="1200" dirty="0">
                <a:solidFill>
                  <a:schemeClr val="accent5">
                    <a:lumMod val="50000"/>
                  </a:schemeClr>
                </a:solidFill>
              </a:rPr>
              <a:t>years of </a:t>
            </a:r>
            <a:r>
              <a:rPr lang="en-US" sz="1200" dirty="0" smtClean="0">
                <a:solidFill>
                  <a:schemeClr val="accent5">
                    <a:lumMod val="50000"/>
                  </a:schemeClr>
                </a:solidFill>
              </a:rPr>
              <a:t>experience </a:t>
            </a:r>
            <a:r>
              <a:rPr lang="en-US" sz="1200" dirty="0">
                <a:solidFill>
                  <a:schemeClr val="accent5">
                    <a:lumMod val="50000"/>
                  </a:schemeClr>
                </a:solidFill>
              </a:rPr>
              <a:t>in </a:t>
            </a:r>
            <a:r>
              <a:rPr lang="en-US" sz="1200" dirty="0" smtClean="0">
                <a:solidFill>
                  <a:schemeClr val="accent5">
                    <a:lumMod val="50000"/>
                  </a:schemeClr>
                </a:solidFill>
              </a:rPr>
              <a:t>operations and project management</a:t>
            </a:r>
            <a:r>
              <a:rPr lang="en-US" sz="1200" dirty="0">
                <a:solidFill>
                  <a:schemeClr val="accent5">
                    <a:lumMod val="50000"/>
                  </a:schemeClr>
                </a:solidFill>
              </a:rPr>
              <a:t>, project </a:t>
            </a:r>
            <a:r>
              <a:rPr lang="en-US" sz="1200" dirty="0" smtClean="0">
                <a:solidFill>
                  <a:schemeClr val="accent5">
                    <a:lumMod val="50000"/>
                  </a:schemeClr>
                </a:solidFill>
              </a:rPr>
              <a:t>execution and training</a:t>
            </a:r>
            <a:endParaRPr lang="en-GB" sz="1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2890444" y="1798906"/>
            <a:ext cx="1452956" cy="1452956"/>
          </a:xfrm>
          <a:prstGeom prst="ellipse">
            <a:avLst/>
          </a:prstGeom>
          <a:solidFill>
            <a:srgbClr val="1D33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3" name="Oval 12"/>
          <p:cNvSpPr/>
          <p:nvPr/>
        </p:nvSpPr>
        <p:spPr>
          <a:xfrm>
            <a:off x="5002603" y="1798906"/>
            <a:ext cx="1452956" cy="1452956"/>
          </a:xfrm>
          <a:prstGeom prst="ellipse">
            <a:avLst/>
          </a:prstGeom>
          <a:solidFill>
            <a:srgbClr val="1D33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4" name="Oval 13"/>
          <p:cNvSpPr/>
          <p:nvPr/>
        </p:nvSpPr>
        <p:spPr>
          <a:xfrm>
            <a:off x="7157644" y="1798906"/>
            <a:ext cx="1452956" cy="1452956"/>
          </a:xfrm>
          <a:prstGeom prst="ellipse">
            <a:avLst/>
          </a:prstGeom>
          <a:solidFill>
            <a:srgbClr val="1D33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5" name="TextBox 14"/>
          <p:cNvSpPr txBox="1"/>
          <p:nvPr/>
        </p:nvSpPr>
        <p:spPr>
          <a:xfrm>
            <a:off x="2895600" y="2266950"/>
            <a:ext cx="804315" cy="210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 Ankur Verma</a:t>
            </a:r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35196" y="2495550"/>
            <a:ext cx="12320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</a:rPr>
              <a:t>Technical Head</a:t>
            </a:r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0" y="2266950"/>
            <a:ext cx="1391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</a:rPr>
              <a:t>Himanshu</a:t>
            </a:r>
            <a:r>
              <a:rPr lang="en-US" sz="1400" dirty="0" smtClean="0">
                <a:solidFill>
                  <a:schemeClr val="bg1"/>
                </a:solidFill>
              </a:rPr>
              <a:t> Goyal</a:t>
            </a:r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57162" y="2495550"/>
            <a:ext cx="13436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</a:rPr>
              <a:t>Operations Head</a:t>
            </a:r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74232" y="2266950"/>
            <a:ext cx="826768" cy="210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 Abhinav Kant</a:t>
            </a:r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235480" y="2495550"/>
            <a:ext cx="13751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</a:rPr>
              <a:t>Senior Tech Lead</a:t>
            </a:r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862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Quick Snapshot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81000" y="1471195"/>
            <a:ext cx="4045213" cy="2922839"/>
          </a:xfrm>
          <a:prstGeom prst="rect">
            <a:avLst/>
          </a:prstGeom>
        </p:spPr>
        <p:txBody>
          <a:bodyPr>
            <a:no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lvl="1">
              <a:buFont typeface="Wingdings 2"/>
              <a:buNone/>
            </a:pPr>
            <a:endParaRPr lang="en-US" sz="1400" b="1" u="sng" dirty="0" smtClean="0"/>
          </a:p>
          <a:p>
            <a:pPr lvl="1">
              <a:buFont typeface="Wingdings 2"/>
              <a:buNone/>
            </a:pPr>
            <a:endParaRPr lang="en-US" sz="1400" b="1" u="sng" dirty="0" smtClean="0"/>
          </a:p>
          <a:p>
            <a:pPr lvl="1">
              <a:buFont typeface="Wingdings 2"/>
              <a:buNone/>
            </a:pPr>
            <a:endParaRPr lang="en-US" sz="1400" b="1" u="sng" dirty="0" smtClean="0"/>
          </a:p>
          <a:p>
            <a:pPr lvl="1">
              <a:buFont typeface="Wingdings 2"/>
              <a:buNone/>
            </a:pPr>
            <a:endParaRPr lang="en-US" sz="1400" dirty="0" smtClean="0"/>
          </a:p>
          <a:p>
            <a:pPr lvl="1">
              <a:buFont typeface="Wingdings 2"/>
              <a:buNone/>
            </a:pPr>
            <a:endParaRPr lang="en-US" sz="1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76" t="16042" r="20140" b="17338"/>
          <a:stretch>
            <a:fillRect/>
          </a:stretch>
        </p:blipFill>
        <p:spPr>
          <a:xfrm>
            <a:off x="5562600" y="1432633"/>
            <a:ext cx="3226135" cy="3304761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302123" y="1477453"/>
            <a:ext cx="5031877" cy="32151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US" sz="1400" noProof="0" dirty="0" smtClean="0"/>
              <a:t>Started in 2015, Phoenix strives for excellence in delivering the output to its clients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lang="en-US" sz="1400" dirty="0" smtClean="0"/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US" sz="1400" dirty="0" smtClean="0"/>
              <a:t>In a short span, we are generating repeat business from our existing clients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1400" i="0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US" sz="1400" dirty="0" smtClean="0"/>
              <a:t>Spotless delivery records of the projects handled so far…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1400" i="0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US" sz="1400" dirty="0" smtClean="0"/>
              <a:t>A dedicated team of brilliant software professionals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400" dirty="0" smtClean="0"/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US" sz="1400" dirty="0" smtClean="0"/>
              <a:t>25 member strong team comprising of SMEs, Project Managers, Designers &amp; Developers.</a:t>
            </a:r>
            <a:endParaRPr kumimoji="0" lang="en-US" sz="1400" i="0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400" b="1" i="0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400" b="1" i="0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9791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Service Offerings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685800" y="1733550"/>
            <a:ext cx="778651" cy="2955681"/>
            <a:chOff x="-101317" y="620127"/>
            <a:chExt cx="778651" cy="2955681"/>
          </a:xfrm>
        </p:grpSpPr>
        <p:sp>
          <p:nvSpPr>
            <p:cNvPr id="23" name="Rectangle 22"/>
            <p:cNvSpPr/>
            <p:nvPr/>
          </p:nvSpPr>
          <p:spPr>
            <a:xfrm rot="16200000">
              <a:off x="-1189832" y="1708642"/>
              <a:ext cx="2955681" cy="778651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4" name="Rectangle 23"/>
            <p:cNvSpPr/>
            <p:nvPr/>
          </p:nvSpPr>
          <p:spPr>
            <a:xfrm rot="16200000">
              <a:off x="-1189832" y="1708642"/>
              <a:ext cx="2955681" cy="77865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331282" bIns="0" numCol="1" spcCol="1270" anchor="t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b="1" kern="1200" dirty="0" smtClean="0"/>
                <a:t>IT Software &amp; hardware Solutions</a:t>
              </a:r>
              <a:endParaRPr lang="en-IN" sz="1400" b="1" kern="1200" dirty="0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916352" y="1733550"/>
            <a:ext cx="1882433" cy="2955681"/>
            <a:chOff x="470114" y="620127"/>
            <a:chExt cx="1882433" cy="2955681"/>
          </a:xfrm>
        </p:grpSpPr>
        <p:sp>
          <p:nvSpPr>
            <p:cNvPr id="21" name="Rectangle 20"/>
            <p:cNvSpPr/>
            <p:nvPr/>
          </p:nvSpPr>
          <p:spPr>
            <a:xfrm>
              <a:off x="470114" y="620127"/>
              <a:ext cx="1882433" cy="2955681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470114" y="620127"/>
              <a:ext cx="1882433" cy="295568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8016" tIns="331282" rIns="128016" bIns="128016" numCol="1" spcCol="1270" anchor="t" anchorCtr="0">
              <a:noAutofit/>
            </a:bodyPr>
            <a:lstStyle/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600" kern="1200" dirty="0" smtClean="0"/>
                <a:t>Network Security Solutions</a:t>
              </a:r>
              <a:endParaRPr lang="en-IN" sz="1600" kern="1200" dirty="0"/>
            </a:p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endParaRPr lang="en-IN" sz="1600" kern="1200" dirty="0"/>
            </a:p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600" kern="1200" dirty="0" smtClean="0"/>
                <a:t>Data Storage &amp; management Solutions</a:t>
              </a:r>
              <a:endParaRPr lang="en-IN" sz="1600" kern="1200" dirty="0"/>
            </a:p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endParaRPr lang="en-IN" sz="1600" kern="1200" dirty="0"/>
            </a:p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600" kern="1200" dirty="0" smtClean="0"/>
                <a:t>IT Hardware Solutions</a:t>
              </a:r>
              <a:endParaRPr lang="en-IN" sz="1600" kern="1200" dirty="0"/>
            </a:p>
          </p:txBody>
        </p:sp>
      </p:grpSp>
      <p:sp>
        <p:nvSpPr>
          <p:cNvPr id="6" name="Oval 5"/>
          <p:cNvSpPr/>
          <p:nvPr/>
        </p:nvSpPr>
        <p:spPr>
          <a:xfrm>
            <a:off x="536985" y="1270932"/>
            <a:ext cx="1203395" cy="662027"/>
          </a:xfrm>
          <a:prstGeom prst="ellipse">
            <a:avLst/>
          </a:prstGeom>
          <a:blipFill rotWithShape="0">
            <a:blip r:embed="rId2"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7" name="Group 6"/>
          <p:cNvGrpSpPr/>
          <p:nvPr/>
        </p:nvGrpSpPr>
        <p:grpSpPr>
          <a:xfrm>
            <a:off x="3657600" y="2359269"/>
            <a:ext cx="375626" cy="2955681"/>
            <a:chOff x="3076104" y="664739"/>
            <a:chExt cx="375626" cy="2955681"/>
          </a:xfrm>
        </p:grpSpPr>
        <p:sp>
          <p:nvSpPr>
            <p:cNvPr id="19" name="Rectangle 18"/>
            <p:cNvSpPr/>
            <p:nvPr/>
          </p:nvSpPr>
          <p:spPr>
            <a:xfrm rot="16200000">
              <a:off x="1786076" y="1954767"/>
              <a:ext cx="2955681" cy="375626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0" name="Rectangle 19"/>
            <p:cNvSpPr/>
            <p:nvPr/>
          </p:nvSpPr>
          <p:spPr>
            <a:xfrm rot="16200000">
              <a:off x="1786076" y="1954767"/>
              <a:ext cx="2955681" cy="37562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331282" bIns="0" numCol="1" spcCol="1270" anchor="t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b="1" kern="1200" dirty="0" smtClean="0"/>
                <a:t>Business Solutions</a:t>
              </a:r>
              <a:endParaRPr lang="en-IN" sz="1400" b="1" kern="1200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897968" y="1778163"/>
            <a:ext cx="1871019" cy="2955681"/>
            <a:chOff x="3451730" y="664740"/>
            <a:chExt cx="1871019" cy="2955681"/>
          </a:xfrm>
        </p:grpSpPr>
        <p:sp>
          <p:nvSpPr>
            <p:cNvPr id="17" name="Rectangle 16"/>
            <p:cNvSpPr/>
            <p:nvPr/>
          </p:nvSpPr>
          <p:spPr>
            <a:xfrm>
              <a:off x="3451730" y="664740"/>
              <a:ext cx="1871019" cy="2955681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" name="Rectangle 17"/>
            <p:cNvSpPr/>
            <p:nvPr/>
          </p:nvSpPr>
          <p:spPr>
            <a:xfrm>
              <a:off x="3451730" y="664740"/>
              <a:ext cx="1871019" cy="295568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8016" tIns="331282" rIns="128016" bIns="128016" numCol="1" spcCol="1270" anchor="t" anchorCtr="0">
              <a:noAutofit/>
            </a:bodyPr>
            <a:lstStyle/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400" kern="1200" dirty="0" smtClean="0"/>
                <a:t>Business Consulting</a:t>
              </a:r>
              <a:endParaRPr lang="en-IN" sz="1400" kern="1200" dirty="0"/>
            </a:p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endParaRPr lang="en-IN" sz="1400" kern="1200" dirty="0"/>
            </a:p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400" kern="1200" dirty="0" smtClean="0"/>
                <a:t>Web Based Custom Application</a:t>
              </a:r>
              <a:endParaRPr lang="en-IN" sz="1400" kern="1200" dirty="0"/>
            </a:p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endParaRPr lang="en-IN" sz="1400" kern="1200" dirty="0"/>
            </a:p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400" kern="1200" dirty="0" smtClean="0"/>
                <a:t>Loyalty Program Solutions</a:t>
              </a:r>
              <a:endParaRPr lang="en-IN" sz="1400" kern="1200" dirty="0"/>
            </a:p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endParaRPr lang="en-IN" sz="1400" kern="1200" dirty="0"/>
            </a:p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400" kern="1200" dirty="0" smtClean="0"/>
                <a:t>Android, IOS &amp; Windows  Mobile Apps</a:t>
              </a:r>
              <a:endParaRPr lang="en-IN" sz="1400" kern="1200" dirty="0"/>
            </a:p>
          </p:txBody>
        </p:sp>
      </p:grpSp>
      <p:sp>
        <p:nvSpPr>
          <p:cNvPr id="9" name="Oval 8"/>
          <p:cNvSpPr/>
          <p:nvPr/>
        </p:nvSpPr>
        <p:spPr>
          <a:xfrm>
            <a:off x="3429295" y="1282336"/>
            <a:ext cx="1215415" cy="751253"/>
          </a:xfrm>
          <a:prstGeom prst="ellipse">
            <a:avLst/>
          </a:prstGeom>
          <a:blipFill rotWithShape="0">
            <a:blip r:embed="rId3"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0" name="Group 9"/>
          <p:cNvGrpSpPr/>
          <p:nvPr/>
        </p:nvGrpSpPr>
        <p:grpSpPr>
          <a:xfrm>
            <a:off x="6705600" y="1825869"/>
            <a:ext cx="894756" cy="2955681"/>
            <a:chOff x="5898006" y="664740"/>
            <a:chExt cx="894756" cy="2955681"/>
          </a:xfrm>
        </p:grpSpPr>
        <p:sp>
          <p:nvSpPr>
            <p:cNvPr id="15" name="Rectangle 14"/>
            <p:cNvSpPr/>
            <p:nvPr/>
          </p:nvSpPr>
          <p:spPr>
            <a:xfrm rot="16200000">
              <a:off x="4962617" y="1790277"/>
              <a:ext cx="2955681" cy="704608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Rectangle 15"/>
            <p:cNvSpPr/>
            <p:nvPr/>
          </p:nvSpPr>
          <p:spPr>
            <a:xfrm rot="16200000">
              <a:off x="4772469" y="1790277"/>
              <a:ext cx="2955681" cy="7046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331282" bIns="0" numCol="1" spcCol="1270" anchor="t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b="1" kern="1200" dirty="0" smtClean="0"/>
                <a:t>Outsourced  Product Development</a:t>
              </a:r>
              <a:endParaRPr lang="en-IN" sz="1400" b="1" kern="1200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884361" y="1778163"/>
            <a:ext cx="1871019" cy="2955681"/>
            <a:chOff x="6438123" y="664740"/>
            <a:chExt cx="1871019" cy="2955681"/>
          </a:xfrm>
        </p:grpSpPr>
        <p:sp>
          <p:nvSpPr>
            <p:cNvPr id="13" name="Rectangle 12"/>
            <p:cNvSpPr/>
            <p:nvPr/>
          </p:nvSpPr>
          <p:spPr>
            <a:xfrm>
              <a:off x="6438123" y="664740"/>
              <a:ext cx="1871019" cy="2955681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Rectangle 13"/>
            <p:cNvSpPr/>
            <p:nvPr/>
          </p:nvSpPr>
          <p:spPr>
            <a:xfrm>
              <a:off x="6438123" y="664740"/>
              <a:ext cx="1871019" cy="295568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8016" tIns="331282" rIns="128016" bIns="128016" numCol="1" spcCol="1270" anchor="t" anchorCtr="0">
              <a:noAutofit/>
            </a:bodyPr>
            <a:lstStyle/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400" kern="1200" dirty="0" smtClean="0"/>
                <a:t>Product Design</a:t>
              </a:r>
              <a:endParaRPr lang="en-IN" sz="1400" kern="1200" dirty="0"/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endParaRPr lang="en-IN" sz="1400" kern="1200" dirty="0"/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400" kern="1200" dirty="0" smtClean="0"/>
                <a:t>Product Development</a:t>
              </a:r>
              <a:endParaRPr lang="en-IN" sz="1400" kern="1200" dirty="0"/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endParaRPr lang="en-IN" sz="1400" kern="1200" dirty="0"/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400" kern="1200" dirty="0" smtClean="0"/>
                <a:t>Product Testing</a:t>
              </a:r>
              <a:endParaRPr lang="en-IN" sz="1400" kern="1200" dirty="0"/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endParaRPr lang="en-IN" sz="1400" kern="1200" dirty="0"/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400" kern="1200" dirty="0" smtClean="0"/>
                <a:t>Product Maintenance &amp; Support</a:t>
              </a:r>
              <a:endParaRPr lang="en-IN" sz="1400" kern="1200" dirty="0"/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endParaRPr lang="en-IN" sz="1400" kern="1200" dirty="0"/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400" kern="1200" dirty="0" smtClean="0"/>
                <a:t>Product Porting &amp; Migration</a:t>
              </a:r>
              <a:endParaRPr lang="en-IN" sz="1400" kern="1200" dirty="0"/>
            </a:p>
          </p:txBody>
        </p:sp>
      </p:grpSp>
      <p:sp>
        <p:nvSpPr>
          <p:cNvPr id="12" name="Oval 11"/>
          <p:cNvSpPr/>
          <p:nvPr/>
        </p:nvSpPr>
        <p:spPr>
          <a:xfrm>
            <a:off x="6429301" y="1279977"/>
            <a:ext cx="1247794" cy="751253"/>
          </a:xfrm>
          <a:prstGeom prst="ellipse">
            <a:avLst/>
          </a:prstGeom>
          <a:blipFill rotWithShape="0">
            <a:blip r:embed="rId4"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2805800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Phoenix – Technology Stack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562389" y="1809750"/>
            <a:ext cx="7934051" cy="2796471"/>
            <a:chOff x="609600" y="960116"/>
            <a:chExt cx="7843520" cy="3001649"/>
          </a:xfrm>
        </p:grpSpPr>
        <p:sp>
          <p:nvSpPr>
            <p:cNvPr id="5" name="Rectangle 4"/>
            <p:cNvSpPr/>
            <p:nvPr/>
          </p:nvSpPr>
          <p:spPr>
            <a:xfrm>
              <a:off x="1524000" y="960120"/>
              <a:ext cx="6019800" cy="1638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smtClean="0"/>
                <a:t>Presentation Layer</a:t>
              </a:r>
              <a:endParaRPr lang="en-US" sz="10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524000" y="1962150"/>
              <a:ext cx="6019800" cy="1638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smtClean="0"/>
                <a:t>Application Layer</a:t>
              </a:r>
              <a:endParaRPr lang="en-US" sz="1000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524000" y="2952750"/>
              <a:ext cx="6019800" cy="152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smtClean="0"/>
                <a:t>Database System</a:t>
              </a:r>
              <a:endParaRPr lang="en-US" sz="1000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09600" y="960120"/>
              <a:ext cx="152400" cy="30016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000" dirty="0" smtClean="0"/>
                <a:t>Platform as a Service</a:t>
              </a:r>
              <a:endParaRPr lang="en-US" sz="1000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8300720" y="960117"/>
              <a:ext cx="152400" cy="30016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000" dirty="0"/>
                <a:t>Integration Services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524000" y="1123950"/>
              <a:ext cx="6019800" cy="8382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524000" y="2114550"/>
              <a:ext cx="6019800" cy="8382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524000" y="3123565"/>
              <a:ext cx="6019800" cy="8382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72160" y="960119"/>
              <a:ext cx="675640" cy="300164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620000" y="960116"/>
              <a:ext cx="675640" cy="300164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5" name="Picture 2" descr="D:\windows-azure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384836" y="2903988"/>
              <a:ext cx="1450288" cy="4810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434201" y="1503065"/>
              <a:ext cx="1356385" cy="476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5" descr="D:\android-boot-logo_634639.jp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96188" y="1204434"/>
              <a:ext cx="434181" cy="4341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6" descr="D:\ios-logo.jp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7643" y="1389061"/>
              <a:ext cx="441325" cy="4413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7" descr="D:\blog-html-5.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7440" y="1174749"/>
              <a:ext cx="482600" cy="482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0" descr="D:\angular-dunebook.png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7000" y="1386204"/>
              <a:ext cx="840011" cy="473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1" descr="D:\newdotnetlogo_2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3906" y="2257553"/>
              <a:ext cx="1412943" cy="58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D:\C#.pn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8812" y="2255518"/>
              <a:ext cx="1952623" cy="5857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3" descr="D:\osi_symbol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7054" y="2238700"/>
              <a:ext cx="626624" cy="6026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4" descr="D:\microsoft-sqlserver.jpg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9737" y="3246374"/>
              <a:ext cx="1977212" cy="5476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5" descr="D:\mysql-logo.png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83250" y="3213179"/>
              <a:ext cx="641350" cy="641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6" descr="D:\json-logo.png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7498239" y="3159935"/>
              <a:ext cx="919163" cy="4700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17" descr="D:\REST-API-Logo.png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7421519" y="2028068"/>
              <a:ext cx="1069975" cy="4726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8" descr="D:\xml.gif"/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7647131" y="1111647"/>
              <a:ext cx="639222" cy="4521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Rectangle 30"/>
          <p:cNvSpPr/>
          <p:nvPr/>
        </p:nvSpPr>
        <p:spPr>
          <a:xfrm>
            <a:off x="547875" y="1352550"/>
            <a:ext cx="7950200" cy="4062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Key technologies that we work on are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2" name="AutoShape 2" descr="Image result for php logo transpare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3" name="AutoShape 4" descr="Image result for php logo transpare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4" name="AutoShape 6" descr="Image result for php logo transparen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35" name="Picture 4" descr="D:\index.png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5469" y="3016605"/>
            <a:ext cx="903733" cy="545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://reactor.apppresser.com/wp-content/uploads/2015/05/ionic-logo-300-300x248.png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2734" y="2226493"/>
            <a:ext cx="485168" cy="401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www.xamarin.com/content/images/pages/branding/assets/xamarin-logo.png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0999" y="2000685"/>
            <a:ext cx="1051892" cy="441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3358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96240" y="590550"/>
            <a:ext cx="8153400" cy="609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Our Clients &amp; Work Done</a:t>
            </a:r>
            <a:endParaRPr lang="en-IN" sz="2400" dirty="0"/>
          </a:p>
        </p:txBody>
      </p:sp>
      <p:pic>
        <p:nvPicPr>
          <p:cNvPr id="4" name="Picture 2" descr="C:\Users\Soniya\Desktop\shubham\Nippon pain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1962150"/>
            <a:ext cx="762000" cy="922618"/>
          </a:xfrm>
          <a:prstGeom prst="rect">
            <a:avLst/>
          </a:prstGeom>
          <a:noFill/>
        </p:spPr>
      </p:pic>
      <p:pic>
        <p:nvPicPr>
          <p:cNvPr id="5" name="Picture 3" descr="C:\Users\Soniya\Desktop\shubham\Galaxy Toyot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2086296"/>
            <a:ext cx="1393682" cy="838200"/>
          </a:xfrm>
          <a:prstGeom prst="rect">
            <a:avLst/>
          </a:prstGeom>
          <a:noFill/>
        </p:spPr>
      </p:pic>
      <p:pic>
        <p:nvPicPr>
          <p:cNvPr id="6" name="Picture 4" descr="C:\Users\Soniya\Desktop\shubham\Harpreet Ford Logo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86200" y="1933896"/>
            <a:ext cx="1657350" cy="996778"/>
          </a:xfrm>
          <a:prstGeom prst="rect">
            <a:avLst/>
          </a:prstGeom>
          <a:noFill/>
        </p:spPr>
      </p:pic>
      <p:pic>
        <p:nvPicPr>
          <p:cNvPr id="7" name="Picture 5" descr="C:\Users\Soniya\Desktop\shubham\Hans Hyundai logo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286000" y="2010096"/>
            <a:ext cx="1520380" cy="914400"/>
          </a:xfrm>
          <a:prstGeom prst="rect">
            <a:avLst/>
          </a:prstGeom>
          <a:noFill/>
        </p:spPr>
      </p:pic>
      <p:pic>
        <p:nvPicPr>
          <p:cNvPr id="8" name="Picture 6" descr="C:\Users\Soniya\Desktop\shubham\nyclogo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162800" y="3562350"/>
            <a:ext cx="1371600" cy="602292"/>
          </a:xfrm>
          <a:prstGeom prst="rect">
            <a:avLst/>
          </a:prstGeom>
          <a:noFill/>
        </p:spPr>
      </p:pic>
      <p:pic>
        <p:nvPicPr>
          <p:cNvPr id="9" name="Picture 8" descr="C:\Users\Soniya\Desktop\pascologo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62000" y="3686496"/>
            <a:ext cx="1437870" cy="523875"/>
          </a:xfrm>
          <a:prstGeom prst="rect">
            <a:avLst/>
          </a:prstGeom>
          <a:noFill/>
        </p:spPr>
      </p:pic>
      <p:pic>
        <p:nvPicPr>
          <p:cNvPr id="10" name="Picture 9" descr="C:\Users\Soniya\Desktop\infonativelogo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724400" y="3457896"/>
            <a:ext cx="1752600" cy="866454"/>
          </a:xfrm>
          <a:prstGeom prst="rect">
            <a:avLst/>
          </a:prstGeom>
          <a:noFill/>
        </p:spPr>
      </p:pic>
      <p:pic>
        <p:nvPicPr>
          <p:cNvPr id="11" name="Picture 10" descr="C:\Users\Soniya\Desktop\19thlogo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819400" y="3610296"/>
            <a:ext cx="1282700" cy="406400"/>
          </a:xfrm>
          <a:prstGeom prst="rect">
            <a:avLst/>
          </a:prstGeom>
          <a:noFill/>
        </p:spPr>
      </p:pic>
      <p:pic>
        <p:nvPicPr>
          <p:cNvPr id="5122" name="Picture 2" descr="Woodcare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162800" y="2062573"/>
            <a:ext cx="1752600" cy="76990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110"/>
            <a:ext cx="8305800" cy="1005840"/>
          </a:xfrm>
        </p:spPr>
        <p:txBody>
          <a:bodyPr/>
          <a:lstStyle/>
          <a:p>
            <a:r>
              <a:rPr lang="en-US" sz="2800" dirty="0" smtClean="0"/>
              <a:t>Nippon Group AR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94304" y="2046471"/>
            <a:ext cx="4321996" cy="2657126"/>
          </a:xfrm>
          <a:prstGeom prst="rect">
            <a:avLst/>
          </a:prstGeom>
        </p:spPr>
        <p:txBody>
          <a:bodyPr vert="horz" lIns="68580" tIns="34290" rIns="68580" bIns="34290">
            <a:no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lvl="1">
              <a:buFont typeface="Wingdings 2"/>
              <a:buNone/>
            </a:pPr>
            <a:endParaRPr lang="en-US" sz="1400" b="1" u="sng" dirty="0" smtClean="0"/>
          </a:p>
          <a:p>
            <a:pPr lvl="1">
              <a:buFont typeface="Wingdings 2"/>
              <a:buNone/>
            </a:pPr>
            <a:endParaRPr lang="en-US" sz="1400" b="1" u="sng" dirty="0" smtClean="0"/>
          </a:p>
          <a:p>
            <a:pPr lvl="1">
              <a:buFont typeface="Wingdings 2"/>
              <a:buNone/>
            </a:pPr>
            <a:endParaRPr lang="en-US" sz="1400" b="1" u="sng" dirty="0" smtClean="0"/>
          </a:p>
          <a:p>
            <a:pPr lvl="1">
              <a:buFont typeface="Wingdings 2"/>
              <a:buNone/>
            </a:pPr>
            <a:endParaRPr lang="en-US" sz="1400" dirty="0" smtClean="0"/>
          </a:p>
          <a:p>
            <a:pPr lvl="1">
              <a:buFont typeface="Wingdings 2"/>
              <a:buNone/>
            </a:pPr>
            <a:endParaRPr lang="en-US" sz="1400" dirty="0"/>
          </a:p>
        </p:txBody>
      </p:sp>
      <p:sp>
        <p:nvSpPr>
          <p:cNvPr id="6" name="Content Placeholder 3"/>
          <p:cNvSpPr txBox="1">
            <a:spLocks/>
          </p:cNvSpPr>
          <p:nvPr/>
        </p:nvSpPr>
        <p:spPr>
          <a:xfrm>
            <a:off x="6349521" y="2207633"/>
            <a:ext cx="4156364" cy="1957087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40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650025" y="1504950"/>
            <a:ext cx="2131775" cy="362038"/>
          </a:xfrm>
          <a:prstGeom prst="rect">
            <a:avLst/>
          </a:prstGeom>
        </p:spPr>
        <p:txBody>
          <a:bodyPr vert="horz" lIns="0" tIns="45720" r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Group</a:t>
            </a:r>
            <a:r>
              <a:rPr lang="en-US" sz="1200" dirty="0" smtClean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AR Portal- A global portal showcasing Nippon paints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7086600" y="1276350"/>
            <a:ext cx="1863436" cy="421782"/>
          </a:xfrm>
          <a:prstGeom prst="rect">
            <a:avLst/>
          </a:prstGeom>
        </p:spPr>
        <p:txBody>
          <a:bodyPr vert="horz" lIns="0" tIns="45720" r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Inventory management Software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7010400" y="2514512"/>
            <a:ext cx="1750888" cy="362038"/>
          </a:xfrm>
          <a:prstGeom prst="rect">
            <a:avLst/>
          </a:prstGeom>
        </p:spPr>
        <p:txBody>
          <a:bodyPr vert="horz" lIns="0" tIns="45720" r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Android &amp; IOS Mobile</a:t>
            </a:r>
            <a:r>
              <a:rPr kumimoji="0" lang="en-US" sz="1200" b="0" i="0" u="none" strike="noStrike" kern="1200" cap="none" spc="0" normalizeH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app for paint dealers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" name="Picture 2" descr="C:\Users\Soniya\Desktop\Picture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05600" y="1733550"/>
            <a:ext cx="2287459" cy="735977"/>
          </a:xfrm>
          <a:prstGeom prst="rect">
            <a:avLst/>
          </a:prstGeom>
          <a:noFill/>
        </p:spPr>
      </p:pic>
      <p:pic>
        <p:nvPicPr>
          <p:cNvPr id="11" name="Picture 3" descr="C:\Users\Soniya\Desktop\Picture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62666" y="2952891"/>
            <a:ext cx="1046356" cy="1562366"/>
          </a:xfrm>
          <a:prstGeom prst="rect">
            <a:avLst/>
          </a:prstGeom>
          <a:noFill/>
        </p:spPr>
      </p:pic>
      <p:pic>
        <p:nvPicPr>
          <p:cNvPr id="12" name="Picture 4" descr="C:\Users\Soniya\Desktop\Picture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54825" y="1957679"/>
            <a:ext cx="1504766" cy="1985671"/>
          </a:xfrm>
          <a:prstGeom prst="rect">
            <a:avLst/>
          </a:prstGeom>
          <a:noFill/>
        </p:spPr>
      </p:pic>
      <p:sp>
        <p:nvSpPr>
          <p:cNvPr id="13" name="Title 1"/>
          <p:cNvSpPr txBox="1">
            <a:spLocks/>
          </p:cNvSpPr>
          <p:nvPr/>
        </p:nvSpPr>
        <p:spPr>
          <a:xfrm>
            <a:off x="9792111" y="4222862"/>
            <a:ext cx="2285608" cy="1303509"/>
          </a:xfrm>
          <a:prstGeom prst="rect">
            <a:avLst/>
          </a:prstGeom>
        </p:spPr>
        <p:txBody>
          <a:bodyPr vert="horz" lIns="0" tIns="45720" rIns="0" bIns="0" anchor="t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 smtClean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noProof="0" dirty="0" smtClean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 smtClean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noProof="0" dirty="0" smtClean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3105" y="2503508"/>
            <a:ext cx="6678695" cy="31162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endParaRPr lang="en-US" dirty="0" smtClean="0">
              <a:solidFill>
                <a:schemeClr val="tx1"/>
              </a:solidFill>
            </a:endParaRPr>
          </a:p>
          <a:p>
            <a:endParaRPr lang="en-US" dirty="0" smtClean="0">
              <a:solidFill>
                <a:schemeClr val="tx1"/>
              </a:solidFill>
            </a:endParaRPr>
          </a:p>
          <a:p>
            <a:pPr algn="just"/>
            <a:endParaRPr lang="en-US" dirty="0" smtClean="0">
              <a:solidFill>
                <a:schemeClr val="tx1"/>
              </a:solidFill>
            </a:endParaRPr>
          </a:p>
          <a:p>
            <a:endParaRPr lang="en-US" sz="3200" i="1" dirty="0" smtClean="0">
              <a:solidFill>
                <a:schemeClr val="tx1"/>
              </a:solidFill>
            </a:endParaRPr>
          </a:p>
          <a:p>
            <a:pPr lvl="0" algn="ctr" defTabSz="914400">
              <a:spcBef>
                <a:spcPct val="0"/>
              </a:spcBef>
              <a:defRPr/>
            </a:pPr>
            <a:endParaRPr lang="en-US" sz="3200" dirty="0" smtClean="0">
              <a:solidFill>
                <a:srgbClr val="002060"/>
              </a:solidFill>
            </a:endParaRPr>
          </a:p>
          <a:p>
            <a:endParaRPr lang="en-IN" sz="3200" i="1" dirty="0">
              <a:solidFill>
                <a:schemeClr val="tx1"/>
              </a:solidFill>
            </a:endParaRPr>
          </a:p>
        </p:txBody>
      </p:sp>
      <p:sp>
        <p:nvSpPr>
          <p:cNvPr id="18" name="Text Placeholder 2"/>
          <p:cNvSpPr txBox="1">
            <a:spLocks/>
          </p:cNvSpPr>
          <p:nvPr/>
        </p:nvSpPr>
        <p:spPr>
          <a:xfrm>
            <a:off x="152400" y="1429033"/>
            <a:ext cx="4724400" cy="342871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400" dirty="0" smtClean="0"/>
              <a:t>Nippon </a:t>
            </a:r>
            <a:r>
              <a:rPr lang="en-US" sz="1400" dirty="0"/>
              <a:t>Paint is a leading Paint company in </a:t>
            </a:r>
            <a:r>
              <a:rPr lang="en-US" sz="1400" dirty="0" smtClean="0"/>
              <a:t>India. Phoenix has been assigned responsibility to manage their critical projects that would help them achieve high productivity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endParaRPr lang="en-US" sz="1400" dirty="0"/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400" dirty="0"/>
              <a:t> Enterprise solutions such as 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400" dirty="0" smtClean="0"/>
              <a:t>Operational </a:t>
            </a:r>
            <a:r>
              <a:rPr lang="en-US" sz="1400" dirty="0"/>
              <a:t>workflows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400" dirty="0" smtClean="0"/>
              <a:t>Managing </a:t>
            </a:r>
            <a:r>
              <a:rPr lang="en-US" sz="1400" dirty="0"/>
              <a:t>different stakeholders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400" dirty="0" smtClean="0"/>
              <a:t>Top </a:t>
            </a:r>
            <a:r>
              <a:rPr lang="en-US" sz="1400" dirty="0"/>
              <a:t>Management reporting &amp; Analytics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400" dirty="0" smtClean="0"/>
              <a:t>Generating </a:t>
            </a:r>
            <a:r>
              <a:rPr lang="en-US" sz="1400" dirty="0"/>
              <a:t>Sales forecast and IRR for various business </a:t>
            </a:r>
            <a:r>
              <a:rPr lang="en-US" sz="1400" dirty="0" smtClean="0"/>
              <a:t>verticals</a:t>
            </a:r>
            <a:endParaRPr lang="en-US" sz="1400" dirty="0"/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400" dirty="0" smtClean="0"/>
              <a:t>Vendor </a:t>
            </a:r>
            <a:r>
              <a:rPr lang="en-US" sz="1400" dirty="0"/>
              <a:t>Management Solutions 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400" dirty="0" smtClean="0"/>
              <a:t>Inventory </a:t>
            </a:r>
            <a:r>
              <a:rPr lang="en-US" sz="1400" dirty="0"/>
              <a:t>Management Solutions</a:t>
            </a:r>
          </a:p>
          <a:p>
            <a:pPr lvl="1"/>
            <a:endParaRPr lang="en-US" sz="1400" b="1" dirty="0" smtClean="0"/>
          </a:p>
          <a:p>
            <a:pPr marL="257175" indent="-257175" defTabSz="685800">
              <a:spcBef>
                <a:spcPct val="20000"/>
              </a:spcBef>
              <a:defRPr/>
            </a:pPr>
            <a:r>
              <a:rPr lang="en-US" sz="1400" b="1" dirty="0" smtClean="0">
                <a:hlinkClick r:id="rId5"/>
              </a:rPr>
              <a:t>http://nipponpaint-autorefinishes.com</a:t>
            </a:r>
            <a:endParaRPr lang="en-US" sz="1400" b="1" dirty="0" smtClean="0"/>
          </a:p>
          <a:p>
            <a:pPr marL="257175" indent="-257175" defTabSz="685800">
              <a:spcBef>
                <a:spcPct val="20000"/>
              </a:spcBef>
              <a:defRPr/>
            </a:pP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936817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Nippon WoodArt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52550"/>
            <a:ext cx="4648200" cy="3242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Nippon Paint Saksham</a:t>
            </a:r>
          </a:p>
          <a:p>
            <a:pPr lvl="1"/>
            <a:r>
              <a:rPr lang="en-US" sz="1600" dirty="0" smtClean="0"/>
              <a:t>A marketing solution blended with technology to hook contractors, dealers associated with Nippon WoodArt</a:t>
            </a:r>
          </a:p>
          <a:p>
            <a:pPr lvl="1"/>
            <a:r>
              <a:rPr lang="en-US" sz="1800" dirty="0" smtClean="0"/>
              <a:t>Key features include:</a:t>
            </a:r>
          </a:p>
          <a:p>
            <a:pPr lvl="2"/>
            <a:r>
              <a:rPr lang="en-US" sz="1400" dirty="0" smtClean="0"/>
              <a:t>Contractor registration</a:t>
            </a:r>
          </a:p>
          <a:p>
            <a:pPr lvl="2"/>
            <a:r>
              <a:rPr lang="en-US" sz="1400" dirty="0" smtClean="0"/>
              <a:t>Site registration- residential, industrial, commercial</a:t>
            </a:r>
          </a:p>
          <a:p>
            <a:pPr lvl="2"/>
            <a:r>
              <a:rPr lang="en-US" sz="1400" dirty="0" smtClean="0"/>
              <a:t>Rewards to contractors on Nippon product purchase</a:t>
            </a:r>
          </a:p>
          <a:p>
            <a:pPr lvl="2"/>
            <a:r>
              <a:rPr lang="en-US" sz="1400" dirty="0" smtClean="0"/>
              <a:t>Allowing dealers to buy products from Nippon Paint</a:t>
            </a:r>
          </a:p>
          <a:p>
            <a:endParaRPr lang="en-IN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 t="6452" b="7796"/>
          <a:stretch>
            <a:fillRect/>
          </a:stretch>
        </p:blipFill>
        <p:spPr bwMode="auto">
          <a:xfrm>
            <a:off x="5029200" y="1352550"/>
            <a:ext cx="3531476" cy="1676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86600" y="1962150"/>
            <a:ext cx="1543050" cy="2743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38150"/>
            <a:ext cx="8534400" cy="6858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TSG- Galaxy Toyota, Harpreet Ford, Hans Hyundai</a:t>
            </a:r>
            <a:endParaRPr lang="en-IN" sz="2800" dirty="0"/>
          </a:p>
        </p:txBody>
      </p:sp>
      <p:sp>
        <p:nvSpPr>
          <p:cNvPr id="4" name="Text Placeholder 2"/>
          <p:cNvSpPr txBox="1">
            <a:spLocks/>
          </p:cNvSpPr>
          <p:nvPr/>
        </p:nvSpPr>
        <p:spPr>
          <a:xfrm>
            <a:off x="335838" y="1352833"/>
            <a:ext cx="4388562" cy="2666717"/>
          </a:xfrm>
          <a:prstGeom prst="rect">
            <a:avLst/>
          </a:prstGeom>
        </p:spPr>
        <p:txBody>
          <a:bodyPr vert="horz" lIns="68580" tIns="34290" rIns="68580" bIns="34290" rtlCol="0">
            <a:normAutofit fontScale="85000" lnSpcReduction="20000"/>
          </a:bodyPr>
          <a:lstStyle/>
          <a:p>
            <a:r>
              <a:rPr lang="en-US" sz="1400" b="1" dirty="0" smtClean="0"/>
              <a:t>The  Sachdev Group (TSG): </a:t>
            </a:r>
            <a:r>
              <a:rPr lang="en-US" sz="1400" dirty="0" smtClean="0"/>
              <a:t>TSG comprises of Galaxy Toyota, Harpreet Ford and Hans Hyundai having 40 sales and service locations across Delhi/NCR.</a:t>
            </a:r>
          </a:p>
          <a:p>
            <a:endParaRPr lang="en-US" sz="1400" dirty="0" smtClean="0"/>
          </a:p>
          <a:p>
            <a:r>
              <a:rPr lang="en-US" sz="1400" dirty="0" smtClean="0"/>
              <a:t>Phoenix launched Loyalty Program across all 40 locations of TSG in January 2016</a:t>
            </a:r>
          </a:p>
          <a:p>
            <a:endParaRPr lang="en-US" sz="1400" dirty="0" smtClean="0"/>
          </a:p>
          <a:p>
            <a:r>
              <a:rPr lang="en-US" sz="1400" dirty="0" smtClean="0"/>
              <a:t>Managing overall program – conceptualization, training, software solution, customer data management, query handling, mobile application , partner acquisition etc.</a:t>
            </a:r>
          </a:p>
          <a:p>
            <a:endParaRPr lang="en-US" sz="1400" dirty="0" smtClean="0"/>
          </a:p>
          <a:p>
            <a:r>
              <a:rPr lang="en-US" sz="1400" b="1" dirty="0" smtClean="0"/>
              <a:t>The program has resulted in a revenue of more than 4 crore in a span of 1 year for the group</a:t>
            </a:r>
          </a:p>
          <a:p>
            <a:pPr marL="257175" indent="-257175" defTabSz="6858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1200" dirty="0" smtClean="0"/>
          </a:p>
          <a:p>
            <a:pPr marL="257175" indent="-257175" defTabSz="6858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1200" dirty="0" smtClean="0"/>
          </a:p>
          <a:p>
            <a:pPr marL="257175" indent="-257175" defTabSz="685800">
              <a:spcBef>
                <a:spcPct val="20000"/>
              </a:spcBef>
              <a:defRPr/>
            </a:pPr>
            <a:r>
              <a:rPr lang="en-US" sz="1700" b="1" dirty="0" smtClean="0">
                <a:hlinkClick r:id="rId2"/>
              </a:rPr>
              <a:t> www.happymiles.co.in</a:t>
            </a:r>
            <a:endParaRPr lang="en-US" sz="1700" b="1" dirty="0" smtClean="0"/>
          </a:p>
          <a:p>
            <a:pPr marL="257175" indent="-257175" defTabSz="685800">
              <a:spcBef>
                <a:spcPct val="20000"/>
              </a:spcBef>
              <a:defRPr/>
            </a:pPr>
            <a:endParaRPr lang="en-US" sz="2400" b="1" dirty="0" smtClean="0"/>
          </a:p>
          <a:p>
            <a:pPr marL="257175" indent="-257175" defTabSz="6858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2400" b="1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81000" y="4457700"/>
            <a:ext cx="8534400" cy="400050"/>
          </a:xfrm>
          <a:prstGeom prst="rect">
            <a:avLst/>
          </a:prstGeom>
        </p:spPr>
        <p:txBody>
          <a:bodyPr vert="horz" lIns="68580" tIns="34290" rIns="68580" bIns="34290" anchor="b">
            <a:normAutofit fontScale="70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3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" name="Picture Placeholder 6" descr="Picture1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rcRect l="158" r="158"/>
          <a:stretch>
            <a:fillRect/>
          </a:stretch>
        </p:blipFill>
        <p:spPr>
          <a:xfrm>
            <a:off x="5105401" y="1428751"/>
            <a:ext cx="3352800" cy="2359364"/>
          </a:xfr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 l="16984" t="23698" r="2196" b="59635"/>
          <a:stretch>
            <a:fillRect/>
          </a:stretch>
        </p:blipFill>
        <p:spPr bwMode="auto">
          <a:xfrm>
            <a:off x="381000" y="3943350"/>
            <a:ext cx="7772400" cy="901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18110"/>
            <a:ext cx="8458200" cy="100584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NYC Limousine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-343685" y="1650066"/>
            <a:ext cx="5023963" cy="1239568"/>
          </a:xfrm>
        </p:spPr>
        <p:txBody>
          <a:bodyPr>
            <a:noAutofit/>
          </a:bodyPr>
          <a:lstStyle/>
          <a:p>
            <a:pPr lvl="1">
              <a:buNone/>
            </a:pPr>
            <a:endParaRPr lang="en-US" sz="1400" b="1" u="sng" dirty="0" smtClean="0"/>
          </a:p>
          <a:p>
            <a:pPr lvl="1">
              <a:buNone/>
            </a:pPr>
            <a:endParaRPr lang="en-US" sz="1400" b="1" u="sng" dirty="0"/>
          </a:p>
          <a:p>
            <a:pPr lvl="1">
              <a:buNone/>
            </a:pPr>
            <a:endParaRPr lang="en-US" sz="1400" b="1" u="sng" dirty="0" smtClean="0"/>
          </a:p>
          <a:p>
            <a:pPr lvl="1">
              <a:buNone/>
            </a:pPr>
            <a:endParaRPr lang="en-US" sz="1400" dirty="0"/>
          </a:p>
          <a:p>
            <a:pPr lvl="1">
              <a:buNone/>
            </a:pPr>
            <a:endParaRPr lang="en-US" sz="1400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91400" y="1428750"/>
            <a:ext cx="1676400" cy="3188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38600" y="2498325"/>
            <a:ext cx="3911031" cy="2119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152400" y="1123950"/>
            <a:ext cx="5029200" cy="3505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dirty="0" smtClean="0">
                <a:solidFill>
                  <a:sysClr val="windowText" lastClr="000000"/>
                </a:solidFill>
              </a:rPr>
              <a:t> </a:t>
            </a:r>
            <a:r>
              <a:rPr lang="en-US" sz="1400" b="1" dirty="0" smtClean="0">
                <a:solidFill>
                  <a:sysClr val="windowText" lastClr="000000"/>
                </a:solidFill>
              </a:rPr>
              <a:t>NYC Limousine </a:t>
            </a:r>
            <a:r>
              <a:rPr lang="en-US" sz="1400" dirty="0" smtClean="0">
                <a:solidFill>
                  <a:sysClr val="windowText" lastClr="000000"/>
                </a:solidFill>
              </a:rPr>
              <a:t>is a leader in corporate and personal  </a:t>
            </a:r>
            <a:r>
              <a:rPr lang="en-US" sz="1400" dirty="0" smtClean="0">
                <a:solidFill>
                  <a:sysClr val="windowText" lastClr="000000"/>
                </a:solidFill>
              </a:rPr>
              <a:t>transportation </a:t>
            </a:r>
            <a:r>
              <a:rPr lang="en-US" sz="1400" dirty="0" smtClean="0">
                <a:solidFill>
                  <a:sysClr val="windowText" lastClr="000000"/>
                </a:solidFill>
              </a:rPr>
              <a:t>in New York City for over twenty years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1400" dirty="0" smtClean="0">
              <a:solidFill>
                <a:sysClr val="windowText" lastClr="000000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dirty="0" smtClean="0">
                <a:solidFill>
                  <a:sysClr val="windowText" lastClr="000000"/>
                </a:solidFill>
              </a:rPr>
              <a:t>Phoenix </a:t>
            </a:r>
            <a:r>
              <a:rPr lang="en-US" sz="1400" dirty="0" smtClean="0">
                <a:solidFill>
                  <a:sysClr val="windowText" lastClr="000000"/>
                </a:solidFill>
              </a:rPr>
              <a:t>has helped in overall transformation of the business by  </a:t>
            </a:r>
            <a:r>
              <a:rPr lang="en-US" sz="1400" dirty="0" smtClean="0">
                <a:solidFill>
                  <a:sysClr val="windowText" lastClr="000000"/>
                </a:solidFill>
              </a:rPr>
              <a:t>developing </a:t>
            </a:r>
            <a:r>
              <a:rPr lang="en-US" sz="1400" dirty="0" smtClean="0">
                <a:solidFill>
                  <a:sysClr val="windowText" lastClr="000000"/>
                </a:solidFill>
              </a:rPr>
              <a:t>state of the art online portal for Limo NYC through  </a:t>
            </a:r>
            <a:r>
              <a:rPr lang="en-US" sz="1400" dirty="0" smtClean="0">
                <a:solidFill>
                  <a:sysClr val="windowText" lastClr="000000"/>
                </a:solidFill>
              </a:rPr>
              <a:t>which </a:t>
            </a:r>
            <a:r>
              <a:rPr lang="en-US" sz="1400" dirty="0" smtClean="0">
                <a:solidFill>
                  <a:sysClr val="windowText" lastClr="000000"/>
                </a:solidFill>
              </a:rPr>
              <a:t>users can book the reservation. The major  things done  </a:t>
            </a:r>
            <a:r>
              <a:rPr lang="en-US" sz="1400" dirty="0" smtClean="0">
                <a:solidFill>
                  <a:sysClr val="windowText" lastClr="000000"/>
                </a:solidFill>
              </a:rPr>
              <a:t>are</a:t>
            </a:r>
            <a:r>
              <a:rPr lang="en-US" sz="1400" dirty="0" smtClean="0">
                <a:solidFill>
                  <a:sysClr val="windowText" lastClr="000000"/>
                </a:solidFill>
              </a:rPr>
              <a:t>: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sz="1400" dirty="0" smtClean="0">
                <a:solidFill>
                  <a:sysClr val="windowText" lastClr="000000"/>
                </a:solidFill>
              </a:rPr>
              <a:t>  Implemented reservation process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sz="1400" dirty="0" smtClean="0">
                <a:solidFill>
                  <a:sysClr val="windowText" lastClr="000000"/>
                </a:solidFill>
              </a:rPr>
              <a:t>  Custom development of admin panel and CMS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sz="1400" dirty="0" smtClean="0">
                <a:solidFill>
                  <a:sysClr val="windowText" lastClr="000000"/>
                </a:solidFill>
              </a:rPr>
              <a:t>  Dynamic UI development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sz="1400" dirty="0" smtClean="0">
                <a:solidFill>
                  <a:sysClr val="windowText" lastClr="000000"/>
                </a:solidFill>
              </a:rPr>
              <a:t>  Developed a complete reservation wizard</a:t>
            </a:r>
          </a:p>
          <a:p>
            <a:pPr algn="just"/>
            <a:endParaRPr lang="en-US" sz="1400" dirty="0" smtClean="0">
              <a:solidFill>
                <a:sysClr val="windowText" lastClr="000000"/>
              </a:solidFill>
            </a:endParaRPr>
          </a:p>
          <a:p>
            <a:pPr algn="just"/>
            <a:r>
              <a:rPr lang="en-US" sz="1400" dirty="0" smtClean="0">
                <a:solidFill>
                  <a:sysClr val="windowText" lastClr="000000"/>
                </a:solidFill>
                <a:hlinkClick r:id="rId4"/>
              </a:rPr>
              <a:t>https://nyclimousine.com/</a:t>
            </a:r>
            <a:endParaRPr lang="en-US" sz="1400" dirty="0" smtClean="0">
              <a:solidFill>
                <a:sysClr val="windowText" lastClr="000000"/>
              </a:solidFill>
            </a:endParaRPr>
          </a:p>
          <a:p>
            <a:pPr algn="just"/>
            <a:endParaRPr lang="en-US" sz="1400" dirty="0" smtClea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033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33350"/>
            <a:ext cx="8517621" cy="100584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19th </a:t>
            </a:r>
            <a:r>
              <a:rPr lang="en-US" sz="2800" dirty="0"/>
              <a:t>Mile</a:t>
            </a:r>
          </a:p>
        </p:txBody>
      </p:sp>
      <p:pic>
        <p:nvPicPr>
          <p:cNvPr id="2050" name="Picture 2" descr="C:\Users\Soniya\Downloads\screencapture-phoenix-infotech-19thMile-index-html-1486523025908.png"/>
          <p:cNvPicPr>
            <a:picLocks noChangeAspect="1" noChangeArrowheads="1"/>
          </p:cNvPicPr>
          <p:nvPr/>
        </p:nvPicPr>
        <p:blipFill>
          <a:blip r:embed="rId2" cstate="print"/>
          <a:srcRect b="46073"/>
          <a:stretch>
            <a:fillRect/>
          </a:stretch>
        </p:blipFill>
        <p:spPr bwMode="auto">
          <a:xfrm>
            <a:off x="5715000" y="1276350"/>
            <a:ext cx="2421291" cy="3505200"/>
          </a:xfrm>
          <a:prstGeom prst="rect">
            <a:avLst/>
          </a:prstGeom>
          <a:noFill/>
        </p:spPr>
      </p:pic>
      <p:sp>
        <p:nvSpPr>
          <p:cNvPr id="9" name="Rectangle 8"/>
          <p:cNvSpPr/>
          <p:nvPr/>
        </p:nvSpPr>
        <p:spPr>
          <a:xfrm>
            <a:off x="304800" y="514350"/>
            <a:ext cx="5029200" cy="33855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endParaRPr lang="en-US" sz="1400" dirty="0" smtClean="0">
              <a:solidFill>
                <a:sysClr val="windowText" lastClr="000000"/>
              </a:solidFill>
            </a:endParaRPr>
          </a:p>
          <a:p>
            <a:endParaRPr lang="en-US" sz="1400" dirty="0" smtClean="0">
              <a:solidFill>
                <a:sysClr val="windowText" lastClr="000000"/>
              </a:solidFill>
            </a:endParaRPr>
          </a:p>
          <a:p>
            <a:endParaRPr lang="en-US" sz="1400" dirty="0" smtClean="0">
              <a:solidFill>
                <a:sysClr val="windowText" lastClr="000000"/>
              </a:solidFill>
            </a:endParaRPr>
          </a:p>
          <a:p>
            <a:endParaRPr lang="en-US" sz="1400" dirty="0" smtClean="0">
              <a:solidFill>
                <a:sysClr val="windowText" lastClr="0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 smtClean="0">
                <a:solidFill>
                  <a:schemeClr val="tx1"/>
                </a:solidFill>
              </a:rPr>
              <a:t>19th Mile </a:t>
            </a:r>
            <a:r>
              <a:rPr lang="en-IN" sz="1400" dirty="0" smtClean="0">
                <a:solidFill>
                  <a:schemeClr val="tx1"/>
                </a:solidFill>
              </a:rPr>
              <a:t>is a personalized, automated sales coaching system </a:t>
            </a:r>
            <a:r>
              <a:rPr lang="en-IN" sz="1400" dirty="0" smtClean="0">
                <a:solidFill>
                  <a:schemeClr val="tx1"/>
                </a:solidFill>
              </a:rPr>
              <a:t>that  </a:t>
            </a:r>
            <a:r>
              <a:rPr lang="en-IN" sz="1400" dirty="0" smtClean="0">
                <a:solidFill>
                  <a:schemeClr val="tx1"/>
                </a:solidFill>
              </a:rPr>
              <a:t>provides data driven coaching to reps to help surpass their </a:t>
            </a:r>
            <a:r>
              <a:rPr lang="en-IN" sz="1400" dirty="0" smtClean="0">
                <a:solidFill>
                  <a:schemeClr val="tx1"/>
                </a:solidFill>
              </a:rPr>
              <a:t>goals </a:t>
            </a:r>
            <a:r>
              <a:rPr lang="en-IN" sz="1400" dirty="0" smtClean="0">
                <a:solidFill>
                  <a:schemeClr val="tx1"/>
                </a:solidFill>
              </a:rPr>
              <a:t>and become more effective.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 smtClean="0">
              <a:solidFill>
                <a:sysClr val="windowText" lastClr="0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 smtClean="0">
                <a:solidFill>
                  <a:sysClr val="windowText" lastClr="000000"/>
                </a:solidFill>
              </a:rPr>
              <a:t> Along with consulting, Phoenix has developed an online </a:t>
            </a:r>
            <a:r>
              <a:rPr lang="en-US" sz="1400" dirty="0" smtClean="0">
                <a:solidFill>
                  <a:sysClr val="windowText" lastClr="000000"/>
                </a:solidFill>
              </a:rPr>
              <a:t>portal, Android </a:t>
            </a:r>
            <a:r>
              <a:rPr lang="en-US" sz="1400" dirty="0" smtClean="0">
                <a:solidFill>
                  <a:sysClr val="windowText" lastClr="000000"/>
                </a:solidFill>
              </a:rPr>
              <a:t>Application and is the process of making an </a:t>
            </a:r>
            <a:r>
              <a:rPr lang="en-US" sz="1400" dirty="0" smtClean="0">
                <a:solidFill>
                  <a:sysClr val="windowText" lastClr="000000"/>
                </a:solidFill>
              </a:rPr>
              <a:t>IOS application </a:t>
            </a:r>
            <a:r>
              <a:rPr lang="en-US" sz="1400" dirty="0" smtClean="0">
                <a:solidFill>
                  <a:sysClr val="windowText" lastClr="000000"/>
                </a:solidFill>
              </a:rPr>
              <a:t>for the client</a:t>
            </a:r>
          </a:p>
          <a:p>
            <a:r>
              <a:rPr lang="en-US" sz="1400" dirty="0" smtClean="0">
                <a:solidFill>
                  <a:sysClr val="windowText" lastClr="000000"/>
                </a:solidFill>
              </a:rPr>
              <a:t>  </a:t>
            </a:r>
          </a:p>
          <a:p>
            <a:endParaRPr lang="en-US" dirty="0" smtClean="0">
              <a:solidFill>
                <a:sysClr val="windowText" lastClr="000000"/>
              </a:solidFill>
            </a:endParaRPr>
          </a:p>
          <a:p>
            <a:r>
              <a:rPr lang="en-US" sz="1400" dirty="0" smtClean="0">
                <a:solidFill>
                  <a:sysClr val="windowText" lastClr="000000"/>
                </a:solidFill>
                <a:hlinkClick r:id="rId3"/>
              </a:rPr>
              <a:t>http://phoenix-infotech.com/19thMile/index.html</a:t>
            </a:r>
            <a:endParaRPr lang="en-US" sz="1400" dirty="0" smtClean="0">
              <a:solidFill>
                <a:sysClr val="windowText" lastClr="000000"/>
              </a:solidFill>
            </a:endParaRPr>
          </a:p>
          <a:p>
            <a:endParaRPr lang="en-US" sz="1400" dirty="0" smtClea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849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18110"/>
            <a:ext cx="8458200" cy="100584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Infonative Solution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52550"/>
            <a:ext cx="3962400" cy="3242310"/>
          </a:xfrm>
        </p:spPr>
        <p:txBody>
          <a:bodyPr>
            <a:normAutofit/>
          </a:bodyPr>
          <a:lstStyle/>
          <a:p>
            <a:r>
              <a:rPr lang="en-US" sz="1400" dirty="0" smtClean="0"/>
              <a:t>Developing the next generation Learning Management System for Infonative Solutions</a:t>
            </a:r>
          </a:p>
          <a:p>
            <a:r>
              <a:rPr lang="en-US" sz="1400" dirty="0" smtClean="0"/>
              <a:t>The solution will help companies in imparting learning to their employees at different career levels</a:t>
            </a:r>
          </a:p>
          <a:p>
            <a:r>
              <a:rPr lang="en-US" sz="1400" dirty="0" smtClean="0"/>
              <a:t>Learning can be done through videos, documents (pdf, word, excel etc), PPT’s , SCORM and so on….</a:t>
            </a:r>
          </a:p>
          <a:p>
            <a:r>
              <a:rPr lang="en-US" sz="1400" dirty="0" smtClean="0"/>
              <a:t>Application keeps a track of learning activity for each employee</a:t>
            </a:r>
          </a:p>
        </p:txBody>
      </p:sp>
      <p:pic>
        <p:nvPicPr>
          <p:cNvPr id="1027" name="Picture 3" descr="f090d13c-beae-4b27-8a7b-52bf78abf21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14800" y="1428750"/>
            <a:ext cx="48006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idx="4294967295"/>
          </p:nvPr>
        </p:nvSpPr>
        <p:spPr>
          <a:xfrm>
            <a:off x="990699" y="244174"/>
            <a:ext cx="3615578" cy="385053"/>
          </a:xfrm>
          <a:noFill/>
        </p:spPr>
        <p:txBody>
          <a:bodyPr lIns="68580" tIns="34290" rIns="68580" bIns="34290">
            <a:normAutofit fontScale="90000"/>
          </a:bodyPr>
          <a:lstStyle/>
          <a:p>
            <a:pPr algn="l"/>
            <a:r>
              <a:rPr lang="en-US" sz="2100" dirty="0" smtClean="0">
                <a:solidFill>
                  <a:schemeClr val="bg1"/>
                </a:solidFill>
              </a:rPr>
              <a:t>Contact Us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58652" y="936456"/>
            <a:ext cx="3767972" cy="3530446"/>
          </a:xfrm>
        </p:spPr>
        <p:txBody>
          <a:bodyPr>
            <a:noAutofit/>
          </a:bodyPr>
          <a:lstStyle/>
          <a:p>
            <a:pPr lvl="1">
              <a:buNone/>
            </a:pPr>
            <a:endParaRPr lang="en-US" sz="1100" b="1" u="sng" dirty="0" smtClean="0"/>
          </a:p>
          <a:p>
            <a:pPr lvl="1">
              <a:buNone/>
            </a:pPr>
            <a:endParaRPr lang="en-US" sz="1100" b="1" u="sng" dirty="0"/>
          </a:p>
          <a:p>
            <a:pPr lvl="1">
              <a:buNone/>
            </a:pPr>
            <a:endParaRPr lang="en-US" sz="1100" b="1" u="sng" dirty="0" smtClean="0"/>
          </a:p>
          <a:p>
            <a:pPr lvl="1">
              <a:buNone/>
            </a:pPr>
            <a:endParaRPr lang="en-US" sz="1100" dirty="0"/>
          </a:p>
          <a:p>
            <a:pPr lvl="1">
              <a:buNone/>
            </a:pPr>
            <a:endParaRPr lang="en-US" sz="1100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15" r="17946" b="23131"/>
          <a:stretch>
            <a:fillRect/>
          </a:stretch>
        </p:blipFill>
        <p:spPr>
          <a:xfrm>
            <a:off x="358652" y="244174"/>
            <a:ext cx="300738" cy="374168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15" r="17946" b="23131"/>
          <a:stretch>
            <a:fillRect/>
          </a:stretch>
        </p:blipFill>
        <p:spPr>
          <a:xfrm>
            <a:off x="8697391" y="4824220"/>
            <a:ext cx="256622" cy="319280"/>
          </a:xfrm>
          <a:prstGeom prst="rect">
            <a:avLst/>
          </a:prstGeom>
        </p:spPr>
      </p:pic>
      <p:sp>
        <p:nvSpPr>
          <p:cNvPr id="13" name="Text Placeholder 2"/>
          <p:cNvSpPr txBox="1">
            <a:spLocks/>
          </p:cNvSpPr>
          <p:nvPr/>
        </p:nvSpPr>
        <p:spPr>
          <a:xfrm>
            <a:off x="217714" y="936456"/>
            <a:ext cx="8283841" cy="380971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marL="257175" indent="-257175" defTabSz="685800">
              <a:spcBef>
                <a:spcPct val="20000"/>
              </a:spcBef>
              <a:defRPr/>
            </a:pPr>
            <a:endParaRPr lang="en-US" sz="1500" dirty="0" smtClean="0"/>
          </a:p>
          <a:p>
            <a:pPr marL="257175" indent="-257175" defTabSz="6858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1200" dirty="0" smtClean="0"/>
          </a:p>
          <a:p>
            <a:pPr marL="257175" indent="-257175" defTabSz="6858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1200" dirty="0" smtClean="0"/>
          </a:p>
          <a:p>
            <a:pPr marL="257175" indent="-257175" defTabSz="6858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2400" b="1" dirty="0" smtClean="0"/>
          </a:p>
          <a:p>
            <a:pPr marL="257175" indent="-257175" defTabSz="6858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2400" b="1" dirty="0"/>
          </a:p>
        </p:txBody>
      </p:sp>
      <p:sp>
        <p:nvSpPr>
          <p:cNvPr id="9" name="Text Placeholder 2"/>
          <p:cNvSpPr txBox="1">
            <a:spLocks/>
          </p:cNvSpPr>
          <p:nvPr/>
        </p:nvSpPr>
        <p:spPr>
          <a:xfrm>
            <a:off x="217714" y="936456"/>
            <a:ext cx="8479678" cy="380971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>
              <a:buNone/>
            </a:pPr>
            <a:r>
              <a:rPr lang="en-US" b="1" dirty="0" smtClean="0"/>
              <a:t>Phoenix TechConsulting Pvt Ltd</a:t>
            </a:r>
          </a:p>
          <a:p>
            <a:pPr>
              <a:lnSpc>
                <a:spcPct val="110000"/>
              </a:lnSpc>
              <a:buNone/>
            </a:pPr>
            <a:r>
              <a:rPr lang="en-US" b="1" dirty="0" smtClean="0"/>
              <a:t>232, Vipul Trade Centre</a:t>
            </a:r>
          </a:p>
          <a:p>
            <a:pPr>
              <a:lnSpc>
                <a:spcPct val="110000"/>
              </a:lnSpc>
              <a:buNone/>
            </a:pPr>
            <a:r>
              <a:rPr lang="en-US" b="1" dirty="0" smtClean="0"/>
              <a:t>Sector 48, Sohna Road</a:t>
            </a:r>
          </a:p>
          <a:p>
            <a:pPr>
              <a:lnSpc>
                <a:spcPct val="110000"/>
              </a:lnSpc>
              <a:buNone/>
            </a:pPr>
            <a:r>
              <a:rPr lang="en-US" b="1" dirty="0" smtClean="0"/>
              <a:t>Gurgaon - 122021</a:t>
            </a:r>
          </a:p>
          <a:p>
            <a:pPr>
              <a:buNone/>
            </a:pPr>
            <a:endParaRPr lang="en-US" sz="2100" dirty="0" smtClean="0"/>
          </a:p>
          <a:p>
            <a:pPr>
              <a:buNone/>
            </a:pPr>
            <a:r>
              <a:rPr lang="en-US" b="1" dirty="0" smtClean="0">
                <a:solidFill>
                  <a:srgbClr val="00B0F0"/>
                </a:solidFill>
              </a:rPr>
              <a:t>Amit Kaushik- Co founder 			Ankur Verma	- Co founder</a:t>
            </a:r>
          </a:p>
          <a:p>
            <a:pPr>
              <a:buNone/>
            </a:pPr>
            <a:r>
              <a:rPr lang="en-US" b="1" dirty="0" smtClean="0">
                <a:solidFill>
                  <a:srgbClr val="00B0F0"/>
                </a:solidFill>
              </a:rPr>
              <a:t>amit.kaushik@phoenix-infotech.com		ankur.verma@phoenix-infotech.com</a:t>
            </a:r>
          </a:p>
          <a:p>
            <a:pPr>
              <a:buNone/>
            </a:pPr>
            <a:r>
              <a:rPr lang="en-US" b="1" dirty="0" smtClean="0">
                <a:solidFill>
                  <a:srgbClr val="00B0F0"/>
                </a:solidFill>
              </a:rPr>
              <a:t>8826675816				8377838417</a:t>
            </a:r>
          </a:p>
          <a:p>
            <a:pPr marL="257175" indent="-257175" defTabSz="6858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1200" dirty="0" smtClean="0"/>
          </a:p>
          <a:p>
            <a:pPr marL="257175" indent="-257175" defTabSz="6858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1200" dirty="0" smtClean="0"/>
          </a:p>
          <a:p>
            <a:pPr marL="257175" indent="-257175" defTabSz="6858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2400" b="1" dirty="0" smtClean="0"/>
          </a:p>
          <a:p>
            <a:pPr marL="257175" indent="-257175" defTabSz="6858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447010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8001000" cy="3268624"/>
          </a:xfrm>
        </p:spPr>
        <p:txBody>
          <a:bodyPr/>
          <a:lstStyle/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r>
              <a:rPr lang="en-US" sz="3600" dirty="0" smtClean="0"/>
              <a:t>THANK YOU</a:t>
            </a:r>
            <a:endParaRPr lang="en-IN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idescreenPresentation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WidescreenPresentation</Template>
  <TotalTime>0</TotalTime>
  <Words>765</Words>
  <Application>Microsoft Office PowerPoint</Application>
  <PresentationFormat>On-screen Show (16:9)</PresentationFormat>
  <Paragraphs>173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Tw Cen MT</vt:lpstr>
      <vt:lpstr>Wingdings</vt:lpstr>
      <vt:lpstr>Wingdings 2</vt:lpstr>
      <vt:lpstr>WidescreenPresentation</vt:lpstr>
      <vt:lpstr>PowerPoint Presentation</vt:lpstr>
      <vt:lpstr>Phoenix </vt:lpstr>
      <vt:lpstr>Meet the Team</vt:lpstr>
      <vt:lpstr>Quick Snapshot</vt:lpstr>
      <vt:lpstr>Service Offerings</vt:lpstr>
      <vt:lpstr>Phoenix – Technology Stack</vt:lpstr>
      <vt:lpstr>PowerPoint Presentation</vt:lpstr>
      <vt:lpstr>Nippon Group AR</vt:lpstr>
      <vt:lpstr>Nippon WoodArt</vt:lpstr>
      <vt:lpstr>TSG- Galaxy Toyota, Harpreet Ford, Hans Hyundai</vt:lpstr>
      <vt:lpstr>NYC Limousine</vt:lpstr>
      <vt:lpstr>19th Mile</vt:lpstr>
      <vt:lpstr>Infonative Solution</vt:lpstr>
      <vt:lpstr>Contact Us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2016-08-15T02:51:42Z</dcterms:created>
  <dcterms:modified xsi:type="dcterms:W3CDTF">2017-07-14T10:38:46Z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1033</vt:i4>
  </property>
  <property fmtid="{D5CDD505-2E9C-101B-9397-08002B2CF9AE}" pid="3" name="_Version">
    <vt:lpwstr>12.0.4518</vt:lpwstr>
  </property>
</Properties>
</file>